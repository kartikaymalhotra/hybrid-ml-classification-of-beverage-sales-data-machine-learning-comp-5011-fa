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nva Sans Bold" charset="1" panose="020B0803030501040103"/>
      <p:regular r:id="rId18"/>
    </p:embeddedFont>
    <p:embeddedFont>
      <p:font typeface="Canva Sans" charset="1" panose="020B0503030501040103"/>
      <p:regular r:id="rId19"/>
    </p:embeddedFont>
    <p:embeddedFont>
      <p:font typeface="Canva Sans Medium" charset="1" panose="020B06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6.png" Type="http://schemas.openxmlformats.org/officeDocument/2006/relationships/image"/><Relationship Id="rId6" Target="../embeddings/oleObject1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0170" y="160841"/>
            <a:ext cx="2692908" cy="568172"/>
            <a:chOff x="0" y="0"/>
            <a:chExt cx="3590544" cy="7575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90544" cy="757555"/>
            </a:xfrm>
            <a:custGeom>
              <a:avLst/>
              <a:gdLst/>
              <a:ahLst/>
              <a:cxnLst/>
              <a:rect r="r" b="b" t="t" l="l"/>
              <a:pathLst>
                <a:path h="757555" w="3590544">
                  <a:moveTo>
                    <a:pt x="0" y="0"/>
                  </a:moveTo>
                  <a:lnTo>
                    <a:pt x="3590544" y="0"/>
                  </a:lnTo>
                  <a:lnTo>
                    <a:pt x="3590544" y="757555"/>
                  </a:lnTo>
                  <a:lnTo>
                    <a:pt x="0" y="757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9" r="0" b="-24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9950884"/>
            <a:ext cx="18287998" cy="336113"/>
            <a:chOff x="0" y="0"/>
            <a:chExt cx="24383998" cy="448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48183"/>
            </a:xfrm>
            <a:custGeom>
              <a:avLst/>
              <a:gdLst/>
              <a:ahLst/>
              <a:cxnLst/>
              <a:rect r="r" b="b" t="t" l="l"/>
              <a:pathLst>
                <a:path h="44818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48183"/>
                  </a:lnTo>
                  <a:lnTo>
                    <a:pt x="0" y="448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73" r="0" b="-466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1045798"/>
            <a:ext cx="2755794" cy="62955"/>
            <a:chOff x="0" y="0"/>
            <a:chExt cx="3674392" cy="839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74364" cy="83947"/>
            </a:xfrm>
            <a:custGeom>
              <a:avLst/>
              <a:gdLst/>
              <a:ahLst/>
              <a:cxnLst/>
              <a:rect r="r" b="b" t="t" l="l"/>
              <a:pathLst>
                <a:path h="83947" w="3674364">
                  <a:moveTo>
                    <a:pt x="0" y="0"/>
                  </a:moveTo>
                  <a:lnTo>
                    <a:pt x="3674364" y="0"/>
                  </a:lnTo>
                  <a:lnTo>
                    <a:pt x="3674364" y="83947"/>
                  </a:lnTo>
                  <a:lnTo>
                    <a:pt x="0" y="83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19" t="0" r="-1020" b="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796612"/>
            <a:ext cx="18288000" cy="312418"/>
            <a:chOff x="0" y="0"/>
            <a:chExt cx="24384000" cy="4165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416179"/>
            </a:xfrm>
            <a:custGeom>
              <a:avLst/>
              <a:gdLst/>
              <a:ahLst/>
              <a:cxnLst/>
              <a:rect r="r" b="b" t="t" l="l"/>
              <a:pathLst>
                <a:path h="416179" w="24384000">
                  <a:moveTo>
                    <a:pt x="24384000" y="0"/>
                  </a:moveTo>
                  <a:lnTo>
                    <a:pt x="0" y="0"/>
                  </a:lnTo>
                  <a:lnTo>
                    <a:pt x="0" y="416179"/>
                  </a:lnTo>
                  <a:lnTo>
                    <a:pt x="24384000" y="416179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-9525" y="787088"/>
            <a:ext cx="18307050" cy="331468"/>
            <a:chOff x="0" y="0"/>
            <a:chExt cx="24409400" cy="4419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09400" cy="441579"/>
            </a:xfrm>
            <a:custGeom>
              <a:avLst/>
              <a:gdLst/>
              <a:ahLst/>
              <a:cxnLst/>
              <a:rect r="r" b="b" t="t" l="l"/>
              <a:pathLst>
                <a:path h="441579" w="24409400">
                  <a:moveTo>
                    <a:pt x="12700" y="416179"/>
                  </a:moveTo>
                  <a:lnTo>
                    <a:pt x="24396700" y="416179"/>
                  </a:lnTo>
                  <a:lnTo>
                    <a:pt x="24396700" y="428879"/>
                  </a:lnTo>
                  <a:lnTo>
                    <a:pt x="24384000" y="428879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lnTo>
                    <a:pt x="12700" y="12700"/>
                  </a:lnTo>
                  <a:lnTo>
                    <a:pt x="25400" y="12700"/>
                  </a:lnTo>
                  <a:lnTo>
                    <a:pt x="25400" y="428879"/>
                  </a:lnTo>
                  <a:lnTo>
                    <a:pt x="12700" y="428879"/>
                  </a:lnTo>
                  <a:lnTo>
                    <a:pt x="12700" y="416179"/>
                  </a:lnTo>
                  <a:moveTo>
                    <a:pt x="12700" y="441579"/>
                  </a:moveTo>
                  <a:cubicBezTo>
                    <a:pt x="5715" y="441579"/>
                    <a:pt x="0" y="435864"/>
                    <a:pt x="0" y="42887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428879"/>
                  </a:lnTo>
                  <a:cubicBezTo>
                    <a:pt x="24409400" y="435864"/>
                    <a:pt x="24403686" y="441579"/>
                    <a:pt x="24396700" y="441579"/>
                  </a:cubicBezTo>
                  <a:lnTo>
                    <a:pt x="12700" y="441579"/>
                  </a:lnTo>
                  <a:close/>
                </a:path>
              </a:pathLst>
            </a:custGeom>
            <a:solidFill>
              <a:srgbClr val="172C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2955853" y="1771600"/>
            <a:ext cx="12958516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Clustering Analysis of Synthetic Beverage Sales Data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55853" y="3534995"/>
            <a:ext cx="1331899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 Integrated Unsupervised and Supervised Machine Learning Approach​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95373" y="4593188"/>
            <a:ext cx="13679478" cy="143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Machine Learning an</a:t>
            </a: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 Neural Networks (COMP-5011) ​Fall 2025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Lakehead University</a:t>
            </a:r>
          </a:p>
          <a:p>
            <a:pPr algn="ctr">
              <a:lnSpc>
                <a:spcPts val="364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78104" y="6601058"/>
            <a:ext cx="5611822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Group Members :                     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Kartikay Malhotra - 1298395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Aung Myo Myint   - 1305013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03554" y="6601058"/>
            <a:ext cx="407129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Instructor:                                                                              </a:t>
            </a:r>
          </a:p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Dr. Saad Bin Ahmed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0170" y="160841"/>
            <a:ext cx="2692908" cy="568172"/>
            <a:chOff x="0" y="0"/>
            <a:chExt cx="3590544" cy="7575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90544" cy="757555"/>
            </a:xfrm>
            <a:custGeom>
              <a:avLst/>
              <a:gdLst/>
              <a:ahLst/>
              <a:cxnLst/>
              <a:rect r="r" b="b" t="t" l="l"/>
              <a:pathLst>
                <a:path h="757555" w="3590544">
                  <a:moveTo>
                    <a:pt x="0" y="0"/>
                  </a:moveTo>
                  <a:lnTo>
                    <a:pt x="3590544" y="0"/>
                  </a:lnTo>
                  <a:lnTo>
                    <a:pt x="3590544" y="757555"/>
                  </a:lnTo>
                  <a:lnTo>
                    <a:pt x="0" y="757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9" r="0" b="-24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9950884"/>
            <a:ext cx="18287998" cy="336113"/>
            <a:chOff x="0" y="0"/>
            <a:chExt cx="24383998" cy="448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48183"/>
            </a:xfrm>
            <a:custGeom>
              <a:avLst/>
              <a:gdLst/>
              <a:ahLst/>
              <a:cxnLst/>
              <a:rect r="r" b="b" t="t" l="l"/>
              <a:pathLst>
                <a:path h="44818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48183"/>
                  </a:lnTo>
                  <a:lnTo>
                    <a:pt x="0" y="448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73" r="0" b="-46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813148"/>
            <a:ext cx="2733675" cy="180975"/>
            <a:chOff x="0" y="0"/>
            <a:chExt cx="3644900" cy="241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44138" cy="240919"/>
            </a:xfrm>
            <a:custGeom>
              <a:avLst/>
              <a:gdLst/>
              <a:ahLst/>
              <a:cxnLst/>
              <a:rect r="r" b="b" t="t" l="l"/>
              <a:pathLst>
                <a:path h="240919" w="3644138">
                  <a:moveTo>
                    <a:pt x="3644138" y="0"/>
                  </a:moveTo>
                  <a:lnTo>
                    <a:pt x="0" y="0"/>
                  </a:lnTo>
                  <a:lnTo>
                    <a:pt x="0" y="240919"/>
                  </a:lnTo>
                  <a:lnTo>
                    <a:pt x="3644138" y="240919"/>
                  </a:lnTo>
                  <a:lnTo>
                    <a:pt x="3644138" y="0"/>
                  </a:lnTo>
                  <a:close/>
                </a:path>
              </a:pathLst>
            </a:custGeom>
            <a:solidFill>
              <a:srgbClr val="4471C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9525" y="803624"/>
            <a:ext cx="2752725" cy="200025"/>
            <a:chOff x="0" y="0"/>
            <a:chExt cx="3670300" cy="266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69538" cy="266319"/>
            </a:xfrm>
            <a:custGeom>
              <a:avLst/>
              <a:gdLst/>
              <a:ahLst/>
              <a:cxnLst/>
              <a:rect r="r" b="b" t="t" l="l"/>
              <a:pathLst>
                <a:path h="266319" w="3669538">
                  <a:moveTo>
                    <a:pt x="12700" y="240919"/>
                  </a:moveTo>
                  <a:lnTo>
                    <a:pt x="3656838" y="240919"/>
                  </a:lnTo>
                  <a:lnTo>
                    <a:pt x="3656838" y="253619"/>
                  </a:lnTo>
                  <a:lnTo>
                    <a:pt x="3644138" y="253619"/>
                  </a:lnTo>
                  <a:lnTo>
                    <a:pt x="3644138" y="12700"/>
                  </a:lnTo>
                  <a:lnTo>
                    <a:pt x="3656838" y="12700"/>
                  </a:lnTo>
                  <a:lnTo>
                    <a:pt x="3656838" y="25400"/>
                  </a:lnTo>
                  <a:lnTo>
                    <a:pt x="12700" y="25400"/>
                  </a:lnTo>
                  <a:lnTo>
                    <a:pt x="12700" y="12700"/>
                  </a:lnTo>
                  <a:lnTo>
                    <a:pt x="25400" y="12700"/>
                  </a:lnTo>
                  <a:lnTo>
                    <a:pt x="25400" y="253619"/>
                  </a:lnTo>
                  <a:lnTo>
                    <a:pt x="12700" y="253619"/>
                  </a:lnTo>
                  <a:lnTo>
                    <a:pt x="12700" y="240919"/>
                  </a:lnTo>
                  <a:moveTo>
                    <a:pt x="12700" y="266319"/>
                  </a:moveTo>
                  <a:cubicBezTo>
                    <a:pt x="5715" y="266319"/>
                    <a:pt x="0" y="260604"/>
                    <a:pt x="0" y="25361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lnTo>
                    <a:pt x="3656838" y="0"/>
                  </a:lnTo>
                  <a:cubicBezTo>
                    <a:pt x="3663823" y="0"/>
                    <a:pt x="3669538" y="5715"/>
                    <a:pt x="3669538" y="12700"/>
                  </a:cubicBezTo>
                  <a:lnTo>
                    <a:pt x="3669538" y="253619"/>
                  </a:lnTo>
                  <a:cubicBezTo>
                    <a:pt x="3669538" y="260604"/>
                    <a:pt x="3663823" y="266319"/>
                    <a:pt x="3656838" y="266319"/>
                  </a:cubicBezTo>
                  <a:lnTo>
                    <a:pt x="12700" y="266319"/>
                  </a:lnTo>
                  <a:close/>
                </a:path>
              </a:pathLst>
            </a:custGeom>
            <a:solidFill>
              <a:srgbClr val="172C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0" y="989838"/>
            <a:ext cx="2810637" cy="174879"/>
            <a:chOff x="0" y="0"/>
            <a:chExt cx="3747516" cy="2331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47516" cy="233172"/>
            </a:xfrm>
            <a:custGeom>
              <a:avLst/>
              <a:gdLst/>
              <a:ahLst/>
              <a:cxnLst/>
              <a:rect r="r" b="b" t="t" l="l"/>
              <a:pathLst>
                <a:path h="233172" w="3747516">
                  <a:moveTo>
                    <a:pt x="0" y="0"/>
                  </a:moveTo>
                  <a:lnTo>
                    <a:pt x="3747516" y="0"/>
                  </a:lnTo>
                  <a:lnTo>
                    <a:pt x="3747516" y="233172"/>
                  </a:lnTo>
                  <a:lnTo>
                    <a:pt x="0" y="233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20" t="0" r="-102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680122" y="972502"/>
            <a:ext cx="10927755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 and Business Problem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5318" y="2304542"/>
            <a:ext cx="15853982" cy="53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 Challenge: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beverage industry is highly competitive with dynamic customer preferences and seasonal trends.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 Opportunity: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Leverage large-scale sales data (8.9M+ transactions) for better decision-making.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Project Goal: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Use Machine Learning to: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Discover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hidden customer segments (Unsupervised Learning).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Predict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segment of new customers (Supervised Learning).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Business Value: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Enable targeted marketing, optimized inventory, and personalized pricing.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0170" y="160841"/>
            <a:ext cx="2692908" cy="568172"/>
            <a:chOff x="0" y="0"/>
            <a:chExt cx="3590544" cy="7575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90544" cy="757555"/>
            </a:xfrm>
            <a:custGeom>
              <a:avLst/>
              <a:gdLst/>
              <a:ahLst/>
              <a:cxnLst/>
              <a:rect r="r" b="b" t="t" l="l"/>
              <a:pathLst>
                <a:path h="757555" w="3590544">
                  <a:moveTo>
                    <a:pt x="0" y="0"/>
                  </a:moveTo>
                  <a:lnTo>
                    <a:pt x="3590544" y="0"/>
                  </a:lnTo>
                  <a:lnTo>
                    <a:pt x="3590544" y="757555"/>
                  </a:lnTo>
                  <a:lnTo>
                    <a:pt x="0" y="757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9" r="0" b="-24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9950884"/>
            <a:ext cx="18287998" cy="336113"/>
            <a:chOff x="0" y="0"/>
            <a:chExt cx="24383998" cy="448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48183"/>
            </a:xfrm>
            <a:custGeom>
              <a:avLst/>
              <a:gdLst/>
              <a:ahLst/>
              <a:cxnLst/>
              <a:rect r="r" b="b" t="t" l="l"/>
              <a:pathLst>
                <a:path h="44818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48183"/>
                  </a:lnTo>
                  <a:lnTo>
                    <a:pt x="0" y="448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73" r="0" b="-46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813148"/>
            <a:ext cx="2733675" cy="180975"/>
            <a:chOff x="0" y="0"/>
            <a:chExt cx="3644900" cy="241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44138" cy="240919"/>
            </a:xfrm>
            <a:custGeom>
              <a:avLst/>
              <a:gdLst/>
              <a:ahLst/>
              <a:cxnLst/>
              <a:rect r="r" b="b" t="t" l="l"/>
              <a:pathLst>
                <a:path h="240919" w="3644138">
                  <a:moveTo>
                    <a:pt x="3644138" y="0"/>
                  </a:moveTo>
                  <a:lnTo>
                    <a:pt x="0" y="0"/>
                  </a:lnTo>
                  <a:lnTo>
                    <a:pt x="0" y="240919"/>
                  </a:lnTo>
                  <a:lnTo>
                    <a:pt x="3644138" y="240919"/>
                  </a:lnTo>
                  <a:lnTo>
                    <a:pt x="3644138" y="0"/>
                  </a:lnTo>
                  <a:close/>
                </a:path>
              </a:pathLst>
            </a:custGeom>
            <a:solidFill>
              <a:srgbClr val="4471C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9525" y="803624"/>
            <a:ext cx="2752725" cy="200025"/>
            <a:chOff x="0" y="0"/>
            <a:chExt cx="3670300" cy="266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69538" cy="266319"/>
            </a:xfrm>
            <a:custGeom>
              <a:avLst/>
              <a:gdLst/>
              <a:ahLst/>
              <a:cxnLst/>
              <a:rect r="r" b="b" t="t" l="l"/>
              <a:pathLst>
                <a:path h="266319" w="3669538">
                  <a:moveTo>
                    <a:pt x="12700" y="240919"/>
                  </a:moveTo>
                  <a:lnTo>
                    <a:pt x="3656838" y="240919"/>
                  </a:lnTo>
                  <a:lnTo>
                    <a:pt x="3656838" y="253619"/>
                  </a:lnTo>
                  <a:lnTo>
                    <a:pt x="3644138" y="253619"/>
                  </a:lnTo>
                  <a:lnTo>
                    <a:pt x="3644138" y="12700"/>
                  </a:lnTo>
                  <a:lnTo>
                    <a:pt x="3656838" y="12700"/>
                  </a:lnTo>
                  <a:lnTo>
                    <a:pt x="3656838" y="25400"/>
                  </a:lnTo>
                  <a:lnTo>
                    <a:pt x="12700" y="25400"/>
                  </a:lnTo>
                  <a:lnTo>
                    <a:pt x="12700" y="12700"/>
                  </a:lnTo>
                  <a:lnTo>
                    <a:pt x="25400" y="12700"/>
                  </a:lnTo>
                  <a:lnTo>
                    <a:pt x="25400" y="253619"/>
                  </a:lnTo>
                  <a:lnTo>
                    <a:pt x="12700" y="253619"/>
                  </a:lnTo>
                  <a:lnTo>
                    <a:pt x="12700" y="240919"/>
                  </a:lnTo>
                  <a:moveTo>
                    <a:pt x="12700" y="266319"/>
                  </a:moveTo>
                  <a:cubicBezTo>
                    <a:pt x="5715" y="266319"/>
                    <a:pt x="0" y="260604"/>
                    <a:pt x="0" y="25361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lnTo>
                    <a:pt x="3656838" y="0"/>
                  </a:lnTo>
                  <a:cubicBezTo>
                    <a:pt x="3663823" y="0"/>
                    <a:pt x="3669538" y="5715"/>
                    <a:pt x="3669538" y="12700"/>
                  </a:cubicBezTo>
                  <a:lnTo>
                    <a:pt x="3669538" y="253619"/>
                  </a:lnTo>
                  <a:cubicBezTo>
                    <a:pt x="3669538" y="260604"/>
                    <a:pt x="3663823" y="266319"/>
                    <a:pt x="3656838" y="266319"/>
                  </a:cubicBezTo>
                  <a:lnTo>
                    <a:pt x="12700" y="266319"/>
                  </a:lnTo>
                  <a:close/>
                </a:path>
              </a:pathLst>
            </a:custGeom>
            <a:solidFill>
              <a:srgbClr val="172C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0" y="989838"/>
            <a:ext cx="2810637" cy="174879"/>
            <a:chOff x="0" y="0"/>
            <a:chExt cx="3747516" cy="2331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47516" cy="233172"/>
            </a:xfrm>
            <a:custGeom>
              <a:avLst/>
              <a:gdLst/>
              <a:ahLst/>
              <a:cxnLst/>
              <a:rect r="r" b="b" t="t" l="l"/>
              <a:pathLst>
                <a:path h="233172" w="3747516">
                  <a:moveTo>
                    <a:pt x="0" y="0"/>
                  </a:moveTo>
                  <a:lnTo>
                    <a:pt x="3747516" y="0"/>
                  </a:lnTo>
                  <a:lnTo>
                    <a:pt x="3747516" y="233172"/>
                  </a:lnTo>
                  <a:lnTo>
                    <a:pt x="0" y="233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20" t="0" r="-102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397326" y="1059942"/>
            <a:ext cx="549334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Overview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5318" y="2457450"/>
            <a:ext cx="15166655" cy="53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ource: Synthetic Beverage Sales Dataset from Kaggle (2024).</a:t>
            </a:r>
          </a:p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Scale: ~8.9 million transactions from Nov 2022 - Nov 2023.</a:t>
            </a:r>
          </a:p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Key Attributes:</a:t>
            </a:r>
          </a:p>
          <a:p>
            <a:pPr algn="just" marL="1295400" indent="-431800" lvl="2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Categorical: Customer_Type (B2B/B2C), Product Category (Water, Juices, Soft Drinks, Alcoholic), Region (16 German states).</a:t>
            </a:r>
          </a:p>
          <a:p>
            <a:pPr algn="just" marL="1295400" indent="-431800" lvl="2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Numerical: Quantity, Unit_Price, Discount, Total_Price.</a:t>
            </a:r>
          </a:p>
          <a:p>
            <a:pPr algn="just" marL="1295400" indent="-431800" lvl="2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Temporal: Order_Date.</a:t>
            </a:r>
          </a:p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Preprocessing: For computational efficiency, a 10% stratified random sample (899,991 records) was used, preserving the original data distributions.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0170" y="160841"/>
            <a:ext cx="2692908" cy="568172"/>
            <a:chOff x="0" y="0"/>
            <a:chExt cx="3590544" cy="7575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90544" cy="757555"/>
            </a:xfrm>
            <a:custGeom>
              <a:avLst/>
              <a:gdLst/>
              <a:ahLst/>
              <a:cxnLst/>
              <a:rect r="r" b="b" t="t" l="l"/>
              <a:pathLst>
                <a:path h="757555" w="3590544">
                  <a:moveTo>
                    <a:pt x="0" y="0"/>
                  </a:moveTo>
                  <a:lnTo>
                    <a:pt x="3590544" y="0"/>
                  </a:lnTo>
                  <a:lnTo>
                    <a:pt x="3590544" y="757555"/>
                  </a:lnTo>
                  <a:lnTo>
                    <a:pt x="0" y="757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9" r="0" b="-24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9950884"/>
            <a:ext cx="18287998" cy="336113"/>
            <a:chOff x="0" y="0"/>
            <a:chExt cx="24383998" cy="448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48183"/>
            </a:xfrm>
            <a:custGeom>
              <a:avLst/>
              <a:gdLst/>
              <a:ahLst/>
              <a:cxnLst/>
              <a:rect r="r" b="b" t="t" l="l"/>
              <a:pathLst>
                <a:path h="44818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48183"/>
                  </a:lnTo>
                  <a:lnTo>
                    <a:pt x="0" y="448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73" r="0" b="-46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813148"/>
            <a:ext cx="2733675" cy="180975"/>
            <a:chOff x="0" y="0"/>
            <a:chExt cx="3644900" cy="241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44138" cy="240919"/>
            </a:xfrm>
            <a:custGeom>
              <a:avLst/>
              <a:gdLst/>
              <a:ahLst/>
              <a:cxnLst/>
              <a:rect r="r" b="b" t="t" l="l"/>
              <a:pathLst>
                <a:path h="240919" w="3644138">
                  <a:moveTo>
                    <a:pt x="3644138" y="0"/>
                  </a:moveTo>
                  <a:lnTo>
                    <a:pt x="0" y="0"/>
                  </a:lnTo>
                  <a:lnTo>
                    <a:pt x="0" y="240919"/>
                  </a:lnTo>
                  <a:lnTo>
                    <a:pt x="3644138" y="240919"/>
                  </a:lnTo>
                  <a:lnTo>
                    <a:pt x="3644138" y="0"/>
                  </a:lnTo>
                  <a:close/>
                </a:path>
              </a:pathLst>
            </a:custGeom>
            <a:solidFill>
              <a:srgbClr val="4471C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9525" y="803624"/>
            <a:ext cx="2752725" cy="200025"/>
            <a:chOff x="0" y="0"/>
            <a:chExt cx="3670300" cy="266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69538" cy="266319"/>
            </a:xfrm>
            <a:custGeom>
              <a:avLst/>
              <a:gdLst/>
              <a:ahLst/>
              <a:cxnLst/>
              <a:rect r="r" b="b" t="t" l="l"/>
              <a:pathLst>
                <a:path h="266319" w="3669538">
                  <a:moveTo>
                    <a:pt x="12700" y="240919"/>
                  </a:moveTo>
                  <a:lnTo>
                    <a:pt x="3656838" y="240919"/>
                  </a:lnTo>
                  <a:lnTo>
                    <a:pt x="3656838" y="253619"/>
                  </a:lnTo>
                  <a:lnTo>
                    <a:pt x="3644138" y="253619"/>
                  </a:lnTo>
                  <a:lnTo>
                    <a:pt x="3644138" y="12700"/>
                  </a:lnTo>
                  <a:lnTo>
                    <a:pt x="3656838" y="12700"/>
                  </a:lnTo>
                  <a:lnTo>
                    <a:pt x="3656838" y="25400"/>
                  </a:lnTo>
                  <a:lnTo>
                    <a:pt x="12700" y="25400"/>
                  </a:lnTo>
                  <a:lnTo>
                    <a:pt x="12700" y="12700"/>
                  </a:lnTo>
                  <a:lnTo>
                    <a:pt x="25400" y="12700"/>
                  </a:lnTo>
                  <a:lnTo>
                    <a:pt x="25400" y="253619"/>
                  </a:lnTo>
                  <a:lnTo>
                    <a:pt x="12700" y="253619"/>
                  </a:lnTo>
                  <a:lnTo>
                    <a:pt x="12700" y="240919"/>
                  </a:lnTo>
                  <a:moveTo>
                    <a:pt x="12700" y="266319"/>
                  </a:moveTo>
                  <a:cubicBezTo>
                    <a:pt x="5715" y="266319"/>
                    <a:pt x="0" y="260604"/>
                    <a:pt x="0" y="25361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lnTo>
                    <a:pt x="3656838" y="0"/>
                  </a:lnTo>
                  <a:cubicBezTo>
                    <a:pt x="3663823" y="0"/>
                    <a:pt x="3669538" y="5715"/>
                    <a:pt x="3669538" y="12700"/>
                  </a:cubicBezTo>
                  <a:lnTo>
                    <a:pt x="3669538" y="253619"/>
                  </a:lnTo>
                  <a:cubicBezTo>
                    <a:pt x="3669538" y="260604"/>
                    <a:pt x="3663823" y="266319"/>
                    <a:pt x="3656838" y="266319"/>
                  </a:cubicBezTo>
                  <a:lnTo>
                    <a:pt x="12700" y="266319"/>
                  </a:lnTo>
                  <a:close/>
                </a:path>
              </a:pathLst>
            </a:custGeom>
            <a:solidFill>
              <a:srgbClr val="172C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0" y="989838"/>
            <a:ext cx="2810637" cy="174879"/>
            <a:chOff x="0" y="0"/>
            <a:chExt cx="3747516" cy="2331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47516" cy="233172"/>
            </a:xfrm>
            <a:custGeom>
              <a:avLst/>
              <a:gdLst/>
              <a:ahLst/>
              <a:cxnLst/>
              <a:rect r="r" b="b" t="t" l="l"/>
              <a:pathLst>
                <a:path h="233172" w="3747516">
                  <a:moveTo>
                    <a:pt x="0" y="0"/>
                  </a:moveTo>
                  <a:lnTo>
                    <a:pt x="3747516" y="0"/>
                  </a:lnTo>
                  <a:lnTo>
                    <a:pt x="3747516" y="233172"/>
                  </a:lnTo>
                  <a:lnTo>
                    <a:pt x="0" y="233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20" t="0" r="-102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7645492" y="2154218"/>
            <a:ext cx="2997016" cy="7796666"/>
          </a:xfrm>
          <a:custGeom>
            <a:avLst/>
            <a:gdLst/>
            <a:ahLst/>
            <a:cxnLst/>
            <a:rect r="r" b="b" t="t" l="l"/>
            <a:pathLst>
              <a:path h="7796666" w="2997016">
                <a:moveTo>
                  <a:pt x="0" y="0"/>
                </a:moveTo>
                <a:lnTo>
                  <a:pt x="2997016" y="0"/>
                </a:lnTo>
                <a:lnTo>
                  <a:pt x="2997016" y="7796666"/>
                </a:lnTo>
                <a:lnTo>
                  <a:pt x="0" y="77966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103117" y="1059942"/>
            <a:ext cx="808176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 (The “How”)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0170" y="160841"/>
            <a:ext cx="2692908" cy="568172"/>
            <a:chOff x="0" y="0"/>
            <a:chExt cx="3590544" cy="7575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90544" cy="757555"/>
            </a:xfrm>
            <a:custGeom>
              <a:avLst/>
              <a:gdLst/>
              <a:ahLst/>
              <a:cxnLst/>
              <a:rect r="r" b="b" t="t" l="l"/>
              <a:pathLst>
                <a:path h="757555" w="3590544">
                  <a:moveTo>
                    <a:pt x="0" y="0"/>
                  </a:moveTo>
                  <a:lnTo>
                    <a:pt x="3590544" y="0"/>
                  </a:lnTo>
                  <a:lnTo>
                    <a:pt x="3590544" y="757555"/>
                  </a:lnTo>
                  <a:lnTo>
                    <a:pt x="0" y="757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9" r="0" b="-24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9950884"/>
            <a:ext cx="18287998" cy="336113"/>
            <a:chOff x="0" y="0"/>
            <a:chExt cx="24383998" cy="448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48183"/>
            </a:xfrm>
            <a:custGeom>
              <a:avLst/>
              <a:gdLst/>
              <a:ahLst/>
              <a:cxnLst/>
              <a:rect r="r" b="b" t="t" l="l"/>
              <a:pathLst>
                <a:path h="44818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48183"/>
                  </a:lnTo>
                  <a:lnTo>
                    <a:pt x="0" y="448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73" r="0" b="-46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813148"/>
            <a:ext cx="2733675" cy="180975"/>
            <a:chOff x="0" y="0"/>
            <a:chExt cx="3644900" cy="241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44138" cy="240919"/>
            </a:xfrm>
            <a:custGeom>
              <a:avLst/>
              <a:gdLst/>
              <a:ahLst/>
              <a:cxnLst/>
              <a:rect r="r" b="b" t="t" l="l"/>
              <a:pathLst>
                <a:path h="240919" w="3644138">
                  <a:moveTo>
                    <a:pt x="3644138" y="0"/>
                  </a:moveTo>
                  <a:lnTo>
                    <a:pt x="0" y="0"/>
                  </a:lnTo>
                  <a:lnTo>
                    <a:pt x="0" y="240919"/>
                  </a:lnTo>
                  <a:lnTo>
                    <a:pt x="3644138" y="240919"/>
                  </a:lnTo>
                  <a:lnTo>
                    <a:pt x="3644138" y="0"/>
                  </a:lnTo>
                  <a:close/>
                </a:path>
              </a:pathLst>
            </a:custGeom>
            <a:solidFill>
              <a:srgbClr val="4471C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9525" y="803624"/>
            <a:ext cx="2752725" cy="200025"/>
            <a:chOff x="0" y="0"/>
            <a:chExt cx="3670300" cy="266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69538" cy="266319"/>
            </a:xfrm>
            <a:custGeom>
              <a:avLst/>
              <a:gdLst/>
              <a:ahLst/>
              <a:cxnLst/>
              <a:rect r="r" b="b" t="t" l="l"/>
              <a:pathLst>
                <a:path h="266319" w="3669538">
                  <a:moveTo>
                    <a:pt x="12700" y="240919"/>
                  </a:moveTo>
                  <a:lnTo>
                    <a:pt x="3656838" y="240919"/>
                  </a:lnTo>
                  <a:lnTo>
                    <a:pt x="3656838" y="253619"/>
                  </a:lnTo>
                  <a:lnTo>
                    <a:pt x="3644138" y="253619"/>
                  </a:lnTo>
                  <a:lnTo>
                    <a:pt x="3644138" y="12700"/>
                  </a:lnTo>
                  <a:lnTo>
                    <a:pt x="3656838" y="12700"/>
                  </a:lnTo>
                  <a:lnTo>
                    <a:pt x="3656838" y="25400"/>
                  </a:lnTo>
                  <a:lnTo>
                    <a:pt x="12700" y="25400"/>
                  </a:lnTo>
                  <a:lnTo>
                    <a:pt x="12700" y="12700"/>
                  </a:lnTo>
                  <a:lnTo>
                    <a:pt x="25400" y="12700"/>
                  </a:lnTo>
                  <a:lnTo>
                    <a:pt x="25400" y="253619"/>
                  </a:lnTo>
                  <a:lnTo>
                    <a:pt x="12700" y="253619"/>
                  </a:lnTo>
                  <a:lnTo>
                    <a:pt x="12700" y="240919"/>
                  </a:lnTo>
                  <a:moveTo>
                    <a:pt x="12700" y="266319"/>
                  </a:moveTo>
                  <a:cubicBezTo>
                    <a:pt x="5715" y="266319"/>
                    <a:pt x="0" y="260604"/>
                    <a:pt x="0" y="25361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lnTo>
                    <a:pt x="3656838" y="0"/>
                  </a:lnTo>
                  <a:cubicBezTo>
                    <a:pt x="3663823" y="0"/>
                    <a:pt x="3669538" y="5715"/>
                    <a:pt x="3669538" y="12700"/>
                  </a:cubicBezTo>
                  <a:lnTo>
                    <a:pt x="3669538" y="253619"/>
                  </a:lnTo>
                  <a:cubicBezTo>
                    <a:pt x="3669538" y="260604"/>
                    <a:pt x="3663823" y="266319"/>
                    <a:pt x="3656838" y="266319"/>
                  </a:cubicBezTo>
                  <a:lnTo>
                    <a:pt x="12700" y="266319"/>
                  </a:lnTo>
                  <a:close/>
                </a:path>
              </a:pathLst>
            </a:custGeom>
            <a:solidFill>
              <a:srgbClr val="172C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0" y="989838"/>
            <a:ext cx="2810637" cy="174879"/>
            <a:chOff x="0" y="0"/>
            <a:chExt cx="3747516" cy="2331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47516" cy="233172"/>
            </a:xfrm>
            <a:custGeom>
              <a:avLst/>
              <a:gdLst/>
              <a:ahLst/>
              <a:cxnLst/>
              <a:rect r="r" b="b" t="t" l="l"/>
              <a:pathLst>
                <a:path h="233172" w="3747516">
                  <a:moveTo>
                    <a:pt x="0" y="0"/>
                  </a:moveTo>
                  <a:lnTo>
                    <a:pt x="3747516" y="0"/>
                  </a:lnTo>
                  <a:lnTo>
                    <a:pt x="3747516" y="233172"/>
                  </a:lnTo>
                  <a:lnTo>
                    <a:pt x="0" y="233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20" t="0" r="-102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103117" y="1059942"/>
            <a:ext cx="808176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 (The “How”)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42832" y="1402208"/>
            <a:ext cx="1682353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continue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6806" y="2599817"/>
            <a:ext cx="15552494" cy="638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1: Feature Engineering</a:t>
            </a:r>
          </a:p>
          <a:p>
            <a:pPr algn="l" marL="1295400" indent="-431800" lvl="2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Created temp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oral features (Month, Day of Week, Weekend Flag).</a:t>
            </a:r>
          </a:p>
          <a:p>
            <a:pPr algn="l" marL="1295400" indent="-431800" lvl="2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Generated interaction terms (Discount Impact = Discount × Quantity).</a:t>
            </a:r>
          </a:p>
          <a:p>
            <a:pPr algn="l" marL="1295400" indent="-431800" lvl="2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Added customer-level aggregates (Total Spend, Average Quantity).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2: Dimensionality Reduction</a:t>
            </a:r>
          </a:p>
          <a:p>
            <a:pPr algn="l" marL="1295400" indent="-431800" lvl="2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Applied Principal Component Analysis (PCA) to reduce noise and handle multicollinearity.</a:t>
            </a:r>
          </a:p>
          <a:p>
            <a:pPr algn="l" marL="1295400" indent="-431800" lvl="2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PCA retained 9 components, explaining 96.82% of the variance.</a:t>
            </a:r>
          </a:p>
          <a:p>
            <a:pPr algn="l" marL="1295400" indent="-431800" lvl="2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Improved clustering silhouette score by 18%.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0170" y="160841"/>
            <a:ext cx="2692908" cy="568172"/>
            <a:chOff x="0" y="0"/>
            <a:chExt cx="3590544" cy="7575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90544" cy="757555"/>
            </a:xfrm>
            <a:custGeom>
              <a:avLst/>
              <a:gdLst/>
              <a:ahLst/>
              <a:cxnLst/>
              <a:rect r="r" b="b" t="t" l="l"/>
              <a:pathLst>
                <a:path h="757555" w="3590544">
                  <a:moveTo>
                    <a:pt x="0" y="0"/>
                  </a:moveTo>
                  <a:lnTo>
                    <a:pt x="3590544" y="0"/>
                  </a:lnTo>
                  <a:lnTo>
                    <a:pt x="3590544" y="757555"/>
                  </a:lnTo>
                  <a:lnTo>
                    <a:pt x="0" y="757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9" r="0" b="-24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9950884"/>
            <a:ext cx="18287998" cy="336113"/>
            <a:chOff x="0" y="0"/>
            <a:chExt cx="24383998" cy="448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48183"/>
            </a:xfrm>
            <a:custGeom>
              <a:avLst/>
              <a:gdLst/>
              <a:ahLst/>
              <a:cxnLst/>
              <a:rect r="r" b="b" t="t" l="l"/>
              <a:pathLst>
                <a:path h="44818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48183"/>
                  </a:lnTo>
                  <a:lnTo>
                    <a:pt x="0" y="448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73" r="0" b="-46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813148"/>
            <a:ext cx="2733675" cy="180975"/>
            <a:chOff x="0" y="0"/>
            <a:chExt cx="3644900" cy="241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44138" cy="240919"/>
            </a:xfrm>
            <a:custGeom>
              <a:avLst/>
              <a:gdLst/>
              <a:ahLst/>
              <a:cxnLst/>
              <a:rect r="r" b="b" t="t" l="l"/>
              <a:pathLst>
                <a:path h="240919" w="3644138">
                  <a:moveTo>
                    <a:pt x="3644138" y="0"/>
                  </a:moveTo>
                  <a:lnTo>
                    <a:pt x="0" y="0"/>
                  </a:lnTo>
                  <a:lnTo>
                    <a:pt x="0" y="240919"/>
                  </a:lnTo>
                  <a:lnTo>
                    <a:pt x="3644138" y="240919"/>
                  </a:lnTo>
                  <a:lnTo>
                    <a:pt x="3644138" y="0"/>
                  </a:lnTo>
                  <a:close/>
                </a:path>
              </a:pathLst>
            </a:custGeom>
            <a:solidFill>
              <a:srgbClr val="4471C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9525" y="803624"/>
            <a:ext cx="2752725" cy="200025"/>
            <a:chOff x="0" y="0"/>
            <a:chExt cx="3670300" cy="266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69538" cy="266319"/>
            </a:xfrm>
            <a:custGeom>
              <a:avLst/>
              <a:gdLst/>
              <a:ahLst/>
              <a:cxnLst/>
              <a:rect r="r" b="b" t="t" l="l"/>
              <a:pathLst>
                <a:path h="266319" w="3669538">
                  <a:moveTo>
                    <a:pt x="12700" y="240919"/>
                  </a:moveTo>
                  <a:lnTo>
                    <a:pt x="3656838" y="240919"/>
                  </a:lnTo>
                  <a:lnTo>
                    <a:pt x="3656838" y="253619"/>
                  </a:lnTo>
                  <a:lnTo>
                    <a:pt x="3644138" y="253619"/>
                  </a:lnTo>
                  <a:lnTo>
                    <a:pt x="3644138" y="12700"/>
                  </a:lnTo>
                  <a:lnTo>
                    <a:pt x="3656838" y="12700"/>
                  </a:lnTo>
                  <a:lnTo>
                    <a:pt x="3656838" y="25400"/>
                  </a:lnTo>
                  <a:lnTo>
                    <a:pt x="12700" y="25400"/>
                  </a:lnTo>
                  <a:lnTo>
                    <a:pt x="12700" y="12700"/>
                  </a:lnTo>
                  <a:lnTo>
                    <a:pt x="25400" y="12700"/>
                  </a:lnTo>
                  <a:lnTo>
                    <a:pt x="25400" y="253619"/>
                  </a:lnTo>
                  <a:lnTo>
                    <a:pt x="12700" y="253619"/>
                  </a:lnTo>
                  <a:lnTo>
                    <a:pt x="12700" y="240919"/>
                  </a:lnTo>
                  <a:moveTo>
                    <a:pt x="12700" y="266319"/>
                  </a:moveTo>
                  <a:cubicBezTo>
                    <a:pt x="5715" y="266319"/>
                    <a:pt x="0" y="260604"/>
                    <a:pt x="0" y="25361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lnTo>
                    <a:pt x="3656838" y="0"/>
                  </a:lnTo>
                  <a:cubicBezTo>
                    <a:pt x="3663823" y="0"/>
                    <a:pt x="3669538" y="5715"/>
                    <a:pt x="3669538" y="12700"/>
                  </a:cubicBezTo>
                  <a:lnTo>
                    <a:pt x="3669538" y="253619"/>
                  </a:lnTo>
                  <a:cubicBezTo>
                    <a:pt x="3669538" y="260604"/>
                    <a:pt x="3663823" y="266319"/>
                    <a:pt x="3656838" y="266319"/>
                  </a:cubicBezTo>
                  <a:lnTo>
                    <a:pt x="12700" y="266319"/>
                  </a:lnTo>
                  <a:close/>
                </a:path>
              </a:pathLst>
            </a:custGeom>
            <a:solidFill>
              <a:srgbClr val="172C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0" y="989838"/>
            <a:ext cx="2810637" cy="174879"/>
            <a:chOff x="0" y="0"/>
            <a:chExt cx="3747516" cy="2331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47516" cy="233172"/>
            </a:xfrm>
            <a:custGeom>
              <a:avLst/>
              <a:gdLst/>
              <a:ahLst/>
              <a:cxnLst/>
              <a:rect r="r" b="b" t="t" l="l"/>
              <a:pathLst>
                <a:path h="233172" w="3747516">
                  <a:moveTo>
                    <a:pt x="0" y="0"/>
                  </a:moveTo>
                  <a:lnTo>
                    <a:pt x="3747516" y="0"/>
                  </a:lnTo>
                  <a:lnTo>
                    <a:pt x="3747516" y="233172"/>
                  </a:lnTo>
                  <a:lnTo>
                    <a:pt x="0" y="233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20" t="0" r="-102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103117" y="1059942"/>
            <a:ext cx="808176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 (The “How”)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5318" y="2684478"/>
            <a:ext cx="14865452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3: Unsupervised Clustering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Used MiniBatchKMeans for efficiency on large data.</a:t>
            </a:r>
          </a:p>
          <a:p>
            <a:pPr algn="l" marL="1295400" indent="-431800" lvl="2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Optimal number 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of clusters determined to be K=4 using the elbow method and silhouette analysis.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4: Supervised Classification</a:t>
            </a:r>
          </a:p>
          <a:p>
            <a:pPr algn="l" marL="1295400" indent="-431800" lvl="2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Cluster labels were used as targets for prediction.</a:t>
            </a:r>
          </a:p>
          <a:p>
            <a:pPr algn="l" marL="1295400" indent="-431800" lvl="2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Models: Random Forest and Linear Support Vector Machine (SVM).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3542832" y="1402208"/>
            <a:ext cx="1682353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continue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0170" y="160841"/>
            <a:ext cx="2692908" cy="568172"/>
            <a:chOff x="0" y="0"/>
            <a:chExt cx="3590544" cy="7575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90544" cy="757555"/>
            </a:xfrm>
            <a:custGeom>
              <a:avLst/>
              <a:gdLst/>
              <a:ahLst/>
              <a:cxnLst/>
              <a:rect r="r" b="b" t="t" l="l"/>
              <a:pathLst>
                <a:path h="757555" w="3590544">
                  <a:moveTo>
                    <a:pt x="0" y="0"/>
                  </a:moveTo>
                  <a:lnTo>
                    <a:pt x="3590544" y="0"/>
                  </a:lnTo>
                  <a:lnTo>
                    <a:pt x="3590544" y="757555"/>
                  </a:lnTo>
                  <a:lnTo>
                    <a:pt x="0" y="757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9" r="0" b="-24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9950884"/>
            <a:ext cx="18287998" cy="336113"/>
            <a:chOff x="0" y="0"/>
            <a:chExt cx="24383998" cy="448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48183"/>
            </a:xfrm>
            <a:custGeom>
              <a:avLst/>
              <a:gdLst/>
              <a:ahLst/>
              <a:cxnLst/>
              <a:rect r="r" b="b" t="t" l="l"/>
              <a:pathLst>
                <a:path h="44818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48183"/>
                  </a:lnTo>
                  <a:lnTo>
                    <a:pt x="0" y="448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73" r="0" b="-46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813148"/>
            <a:ext cx="2733675" cy="180975"/>
            <a:chOff x="0" y="0"/>
            <a:chExt cx="3644900" cy="241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44138" cy="240919"/>
            </a:xfrm>
            <a:custGeom>
              <a:avLst/>
              <a:gdLst/>
              <a:ahLst/>
              <a:cxnLst/>
              <a:rect r="r" b="b" t="t" l="l"/>
              <a:pathLst>
                <a:path h="240919" w="3644138">
                  <a:moveTo>
                    <a:pt x="3644138" y="0"/>
                  </a:moveTo>
                  <a:lnTo>
                    <a:pt x="0" y="0"/>
                  </a:lnTo>
                  <a:lnTo>
                    <a:pt x="0" y="240919"/>
                  </a:lnTo>
                  <a:lnTo>
                    <a:pt x="3644138" y="240919"/>
                  </a:lnTo>
                  <a:lnTo>
                    <a:pt x="3644138" y="0"/>
                  </a:lnTo>
                  <a:close/>
                </a:path>
              </a:pathLst>
            </a:custGeom>
            <a:solidFill>
              <a:srgbClr val="4471C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9525" y="803624"/>
            <a:ext cx="2752725" cy="200025"/>
            <a:chOff x="0" y="0"/>
            <a:chExt cx="3670300" cy="266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69538" cy="266319"/>
            </a:xfrm>
            <a:custGeom>
              <a:avLst/>
              <a:gdLst/>
              <a:ahLst/>
              <a:cxnLst/>
              <a:rect r="r" b="b" t="t" l="l"/>
              <a:pathLst>
                <a:path h="266319" w="3669538">
                  <a:moveTo>
                    <a:pt x="12700" y="240919"/>
                  </a:moveTo>
                  <a:lnTo>
                    <a:pt x="3656838" y="240919"/>
                  </a:lnTo>
                  <a:lnTo>
                    <a:pt x="3656838" y="253619"/>
                  </a:lnTo>
                  <a:lnTo>
                    <a:pt x="3644138" y="253619"/>
                  </a:lnTo>
                  <a:lnTo>
                    <a:pt x="3644138" y="12700"/>
                  </a:lnTo>
                  <a:lnTo>
                    <a:pt x="3656838" y="12700"/>
                  </a:lnTo>
                  <a:lnTo>
                    <a:pt x="3656838" y="25400"/>
                  </a:lnTo>
                  <a:lnTo>
                    <a:pt x="12700" y="25400"/>
                  </a:lnTo>
                  <a:lnTo>
                    <a:pt x="12700" y="12700"/>
                  </a:lnTo>
                  <a:lnTo>
                    <a:pt x="25400" y="12700"/>
                  </a:lnTo>
                  <a:lnTo>
                    <a:pt x="25400" y="253619"/>
                  </a:lnTo>
                  <a:lnTo>
                    <a:pt x="12700" y="253619"/>
                  </a:lnTo>
                  <a:lnTo>
                    <a:pt x="12700" y="240919"/>
                  </a:lnTo>
                  <a:moveTo>
                    <a:pt x="12700" y="266319"/>
                  </a:moveTo>
                  <a:cubicBezTo>
                    <a:pt x="5715" y="266319"/>
                    <a:pt x="0" y="260604"/>
                    <a:pt x="0" y="25361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lnTo>
                    <a:pt x="3656838" y="0"/>
                  </a:lnTo>
                  <a:cubicBezTo>
                    <a:pt x="3663823" y="0"/>
                    <a:pt x="3669538" y="5715"/>
                    <a:pt x="3669538" y="12700"/>
                  </a:cubicBezTo>
                  <a:lnTo>
                    <a:pt x="3669538" y="253619"/>
                  </a:lnTo>
                  <a:cubicBezTo>
                    <a:pt x="3669538" y="260604"/>
                    <a:pt x="3663823" y="266319"/>
                    <a:pt x="3656838" y="266319"/>
                  </a:cubicBezTo>
                  <a:lnTo>
                    <a:pt x="12700" y="266319"/>
                  </a:lnTo>
                  <a:close/>
                </a:path>
              </a:pathLst>
            </a:custGeom>
            <a:solidFill>
              <a:srgbClr val="172C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0" y="989838"/>
            <a:ext cx="2810637" cy="174879"/>
            <a:chOff x="0" y="0"/>
            <a:chExt cx="3747516" cy="2331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47516" cy="233172"/>
            </a:xfrm>
            <a:custGeom>
              <a:avLst/>
              <a:gdLst/>
              <a:ahLst/>
              <a:cxnLst/>
              <a:rect r="r" b="b" t="t" l="l"/>
              <a:pathLst>
                <a:path h="233172" w="3747516">
                  <a:moveTo>
                    <a:pt x="0" y="0"/>
                  </a:moveTo>
                  <a:lnTo>
                    <a:pt x="3747516" y="0"/>
                  </a:lnTo>
                  <a:lnTo>
                    <a:pt x="3747516" y="233172"/>
                  </a:lnTo>
                  <a:lnTo>
                    <a:pt x="0" y="233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20" t="0" r="-102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2724150"/>
            <a:ext cx="16230600" cy="584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Final Customer Segments (K=4)</a:t>
            </a:r>
          </a:p>
          <a:p>
            <a:pPr algn="l" marL="1295400" indent="-431800" lvl="2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Key Insight: Segments are driven by purchase volume + customer type, not just product category.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graphicFrame>
        <p:nvGraphicFramePr>
          <p:cNvPr name="Object 13" id="13"/>
          <p:cNvGraphicFramePr/>
          <p:nvPr/>
        </p:nvGraphicFramePr>
        <p:xfrm>
          <a:off x="1704885" y="3486150"/>
          <a:ext cx="14587538" cy="3143250"/>
        </p:xfrm>
        <a:graphic>
          <a:graphicData uri="http://schemas.openxmlformats.org/presentationml/2006/ole">
            <p:oleObj imgW="17500600" imgH="60579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3243039" y="1059942"/>
            <a:ext cx="1180192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Discovering the 4 Customer Segments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0170" y="160841"/>
            <a:ext cx="2692908" cy="568172"/>
            <a:chOff x="0" y="0"/>
            <a:chExt cx="3590544" cy="7575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90544" cy="757555"/>
            </a:xfrm>
            <a:custGeom>
              <a:avLst/>
              <a:gdLst/>
              <a:ahLst/>
              <a:cxnLst/>
              <a:rect r="r" b="b" t="t" l="l"/>
              <a:pathLst>
                <a:path h="757555" w="3590544">
                  <a:moveTo>
                    <a:pt x="0" y="0"/>
                  </a:moveTo>
                  <a:lnTo>
                    <a:pt x="3590544" y="0"/>
                  </a:lnTo>
                  <a:lnTo>
                    <a:pt x="3590544" y="757555"/>
                  </a:lnTo>
                  <a:lnTo>
                    <a:pt x="0" y="757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9" r="0" b="-24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9950884"/>
            <a:ext cx="18287998" cy="336113"/>
            <a:chOff x="0" y="0"/>
            <a:chExt cx="24383998" cy="448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48183"/>
            </a:xfrm>
            <a:custGeom>
              <a:avLst/>
              <a:gdLst/>
              <a:ahLst/>
              <a:cxnLst/>
              <a:rect r="r" b="b" t="t" l="l"/>
              <a:pathLst>
                <a:path h="44818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48183"/>
                  </a:lnTo>
                  <a:lnTo>
                    <a:pt x="0" y="448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73" r="0" b="-46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813148"/>
            <a:ext cx="2733675" cy="180975"/>
            <a:chOff x="0" y="0"/>
            <a:chExt cx="3644900" cy="241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44138" cy="240919"/>
            </a:xfrm>
            <a:custGeom>
              <a:avLst/>
              <a:gdLst/>
              <a:ahLst/>
              <a:cxnLst/>
              <a:rect r="r" b="b" t="t" l="l"/>
              <a:pathLst>
                <a:path h="240919" w="3644138">
                  <a:moveTo>
                    <a:pt x="3644138" y="0"/>
                  </a:moveTo>
                  <a:lnTo>
                    <a:pt x="0" y="0"/>
                  </a:lnTo>
                  <a:lnTo>
                    <a:pt x="0" y="240919"/>
                  </a:lnTo>
                  <a:lnTo>
                    <a:pt x="3644138" y="240919"/>
                  </a:lnTo>
                  <a:lnTo>
                    <a:pt x="3644138" y="0"/>
                  </a:lnTo>
                  <a:close/>
                </a:path>
              </a:pathLst>
            </a:custGeom>
            <a:solidFill>
              <a:srgbClr val="4471C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9525" y="803624"/>
            <a:ext cx="2752725" cy="200025"/>
            <a:chOff x="0" y="0"/>
            <a:chExt cx="3670300" cy="266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69538" cy="266319"/>
            </a:xfrm>
            <a:custGeom>
              <a:avLst/>
              <a:gdLst/>
              <a:ahLst/>
              <a:cxnLst/>
              <a:rect r="r" b="b" t="t" l="l"/>
              <a:pathLst>
                <a:path h="266319" w="3669538">
                  <a:moveTo>
                    <a:pt x="12700" y="240919"/>
                  </a:moveTo>
                  <a:lnTo>
                    <a:pt x="3656838" y="240919"/>
                  </a:lnTo>
                  <a:lnTo>
                    <a:pt x="3656838" y="253619"/>
                  </a:lnTo>
                  <a:lnTo>
                    <a:pt x="3644138" y="253619"/>
                  </a:lnTo>
                  <a:lnTo>
                    <a:pt x="3644138" y="12700"/>
                  </a:lnTo>
                  <a:lnTo>
                    <a:pt x="3656838" y="12700"/>
                  </a:lnTo>
                  <a:lnTo>
                    <a:pt x="3656838" y="25400"/>
                  </a:lnTo>
                  <a:lnTo>
                    <a:pt x="12700" y="25400"/>
                  </a:lnTo>
                  <a:lnTo>
                    <a:pt x="12700" y="12700"/>
                  </a:lnTo>
                  <a:lnTo>
                    <a:pt x="25400" y="12700"/>
                  </a:lnTo>
                  <a:lnTo>
                    <a:pt x="25400" y="253619"/>
                  </a:lnTo>
                  <a:lnTo>
                    <a:pt x="12700" y="253619"/>
                  </a:lnTo>
                  <a:lnTo>
                    <a:pt x="12700" y="240919"/>
                  </a:lnTo>
                  <a:moveTo>
                    <a:pt x="12700" y="266319"/>
                  </a:moveTo>
                  <a:cubicBezTo>
                    <a:pt x="5715" y="266319"/>
                    <a:pt x="0" y="260604"/>
                    <a:pt x="0" y="25361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lnTo>
                    <a:pt x="3656838" y="0"/>
                  </a:lnTo>
                  <a:cubicBezTo>
                    <a:pt x="3663823" y="0"/>
                    <a:pt x="3669538" y="5715"/>
                    <a:pt x="3669538" y="12700"/>
                  </a:cubicBezTo>
                  <a:lnTo>
                    <a:pt x="3669538" y="253619"/>
                  </a:lnTo>
                  <a:cubicBezTo>
                    <a:pt x="3669538" y="260604"/>
                    <a:pt x="3663823" y="266319"/>
                    <a:pt x="3656838" y="266319"/>
                  </a:cubicBezTo>
                  <a:lnTo>
                    <a:pt x="12700" y="266319"/>
                  </a:lnTo>
                  <a:close/>
                </a:path>
              </a:pathLst>
            </a:custGeom>
            <a:solidFill>
              <a:srgbClr val="172C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0" y="989838"/>
            <a:ext cx="2810637" cy="174879"/>
            <a:chOff x="0" y="0"/>
            <a:chExt cx="3747516" cy="2331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47516" cy="233172"/>
            </a:xfrm>
            <a:custGeom>
              <a:avLst/>
              <a:gdLst/>
              <a:ahLst/>
              <a:cxnLst/>
              <a:rect r="r" b="b" t="t" l="l"/>
              <a:pathLst>
                <a:path h="233172" w="3747516">
                  <a:moveTo>
                    <a:pt x="0" y="0"/>
                  </a:moveTo>
                  <a:lnTo>
                    <a:pt x="3747516" y="0"/>
                  </a:lnTo>
                  <a:lnTo>
                    <a:pt x="3747516" y="233172"/>
                  </a:lnTo>
                  <a:lnTo>
                    <a:pt x="0" y="233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20" t="0" r="-102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372519" y="1059942"/>
            <a:ext cx="1154296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We Achieved Realistic Segments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699" y="2653898"/>
            <a:ext cx="16230600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Scaling &amp; PCA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Applied StandardScaler() on all features → fair comparison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PCA (95% variance) → reduced from 16 → 9 components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Explained variance: 96.82%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Silhouette score improved by ~18% after PCA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Strong customer-level features (total_spend, order_frequency) naturally separated B2B vs B2C 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→ Result: 4 clean, interpretable segments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0170" y="160841"/>
            <a:ext cx="2692908" cy="568172"/>
            <a:chOff x="0" y="0"/>
            <a:chExt cx="3590544" cy="7575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90544" cy="757555"/>
            </a:xfrm>
            <a:custGeom>
              <a:avLst/>
              <a:gdLst/>
              <a:ahLst/>
              <a:cxnLst/>
              <a:rect r="r" b="b" t="t" l="l"/>
              <a:pathLst>
                <a:path h="757555" w="3590544">
                  <a:moveTo>
                    <a:pt x="0" y="0"/>
                  </a:moveTo>
                  <a:lnTo>
                    <a:pt x="3590544" y="0"/>
                  </a:lnTo>
                  <a:lnTo>
                    <a:pt x="3590544" y="757555"/>
                  </a:lnTo>
                  <a:lnTo>
                    <a:pt x="0" y="757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9" r="0" b="-24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9950884"/>
            <a:ext cx="18287998" cy="336113"/>
            <a:chOff x="0" y="0"/>
            <a:chExt cx="24383998" cy="448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48183"/>
            </a:xfrm>
            <a:custGeom>
              <a:avLst/>
              <a:gdLst/>
              <a:ahLst/>
              <a:cxnLst/>
              <a:rect r="r" b="b" t="t" l="l"/>
              <a:pathLst>
                <a:path h="44818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48183"/>
                  </a:lnTo>
                  <a:lnTo>
                    <a:pt x="0" y="448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73" r="0" b="-46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813148"/>
            <a:ext cx="2733675" cy="180975"/>
            <a:chOff x="0" y="0"/>
            <a:chExt cx="3644900" cy="241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44138" cy="240919"/>
            </a:xfrm>
            <a:custGeom>
              <a:avLst/>
              <a:gdLst/>
              <a:ahLst/>
              <a:cxnLst/>
              <a:rect r="r" b="b" t="t" l="l"/>
              <a:pathLst>
                <a:path h="240919" w="3644138">
                  <a:moveTo>
                    <a:pt x="3644138" y="0"/>
                  </a:moveTo>
                  <a:lnTo>
                    <a:pt x="0" y="0"/>
                  </a:lnTo>
                  <a:lnTo>
                    <a:pt x="0" y="240919"/>
                  </a:lnTo>
                  <a:lnTo>
                    <a:pt x="3644138" y="240919"/>
                  </a:lnTo>
                  <a:lnTo>
                    <a:pt x="3644138" y="0"/>
                  </a:lnTo>
                  <a:close/>
                </a:path>
              </a:pathLst>
            </a:custGeom>
            <a:solidFill>
              <a:srgbClr val="4471C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9525" y="803624"/>
            <a:ext cx="2752725" cy="200025"/>
            <a:chOff x="0" y="0"/>
            <a:chExt cx="3670300" cy="266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69538" cy="266319"/>
            </a:xfrm>
            <a:custGeom>
              <a:avLst/>
              <a:gdLst/>
              <a:ahLst/>
              <a:cxnLst/>
              <a:rect r="r" b="b" t="t" l="l"/>
              <a:pathLst>
                <a:path h="266319" w="3669538">
                  <a:moveTo>
                    <a:pt x="12700" y="240919"/>
                  </a:moveTo>
                  <a:lnTo>
                    <a:pt x="3656838" y="240919"/>
                  </a:lnTo>
                  <a:lnTo>
                    <a:pt x="3656838" y="253619"/>
                  </a:lnTo>
                  <a:lnTo>
                    <a:pt x="3644138" y="253619"/>
                  </a:lnTo>
                  <a:lnTo>
                    <a:pt x="3644138" y="12700"/>
                  </a:lnTo>
                  <a:lnTo>
                    <a:pt x="3656838" y="12700"/>
                  </a:lnTo>
                  <a:lnTo>
                    <a:pt x="3656838" y="25400"/>
                  </a:lnTo>
                  <a:lnTo>
                    <a:pt x="12700" y="25400"/>
                  </a:lnTo>
                  <a:lnTo>
                    <a:pt x="12700" y="12700"/>
                  </a:lnTo>
                  <a:lnTo>
                    <a:pt x="25400" y="12700"/>
                  </a:lnTo>
                  <a:lnTo>
                    <a:pt x="25400" y="253619"/>
                  </a:lnTo>
                  <a:lnTo>
                    <a:pt x="12700" y="253619"/>
                  </a:lnTo>
                  <a:lnTo>
                    <a:pt x="12700" y="240919"/>
                  </a:lnTo>
                  <a:moveTo>
                    <a:pt x="12700" y="266319"/>
                  </a:moveTo>
                  <a:cubicBezTo>
                    <a:pt x="5715" y="266319"/>
                    <a:pt x="0" y="260604"/>
                    <a:pt x="0" y="25361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lnTo>
                    <a:pt x="3656838" y="0"/>
                  </a:lnTo>
                  <a:cubicBezTo>
                    <a:pt x="3663823" y="0"/>
                    <a:pt x="3669538" y="5715"/>
                    <a:pt x="3669538" y="12700"/>
                  </a:cubicBezTo>
                  <a:lnTo>
                    <a:pt x="3669538" y="253619"/>
                  </a:lnTo>
                  <a:cubicBezTo>
                    <a:pt x="3669538" y="260604"/>
                    <a:pt x="3663823" y="266319"/>
                    <a:pt x="3656838" y="266319"/>
                  </a:cubicBezTo>
                  <a:lnTo>
                    <a:pt x="12700" y="266319"/>
                  </a:lnTo>
                  <a:close/>
                </a:path>
              </a:pathLst>
            </a:custGeom>
            <a:solidFill>
              <a:srgbClr val="172C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0" y="989838"/>
            <a:ext cx="2810637" cy="174879"/>
            <a:chOff x="0" y="0"/>
            <a:chExt cx="3747516" cy="2331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47516" cy="233172"/>
            </a:xfrm>
            <a:custGeom>
              <a:avLst/>
              <a:gdLst/>
              <a:ahLst/>
              <a:cxnLst/>
              <a:rect r="r" b="b" t="t" l="l"/>
              <a:pathLst>
                <a:path h="233172" w="3747516">
                  <a:moveTo>
                    <a:pt x="0" y="0"/>
                  </a:moveTo>
                  <a:lnTo>
                    <a:pt x="3747516" y="0"/>
                  </a:lnTo>
                  <a:lnTo>
                    <a:pt x="3747516" y="233172"/>
                  </a:lnTo>
                  <a:lnTo>
                    <a:pt x="0" y="233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20" t="0" r="-102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1215492" y="2479532"/>
            <a:ext cx="6312074" cy="7187550"/>
          </a:xfrm>
          <a:custGeom>
            <a:avLst/>
            <a:gdLst/>
            <a:ahLst/>
            <a:cxnLst/>
            <a:rect r="r" b="b" t="t" l="l"/>
            <a:pathLst>
              <a:path h="7187550" w="6312074">
                <a:moveTo>
                  <a:pt x="0" y="0"/>
                </a:moveTo>
                <a:lnTo>
                  <a:pt x="6312073" y="0"/>
                </a:lnTo>
                <a:lnTo>
                  <a:pt x="6312073" y="7187550"/>
                </a:lnTo>
                <a:lnTo>
                  <a:pt x="0" y="7187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91692" y="1059942"/>
            <a:ext cx="13904615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 - Classification &amp; Feature Importance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699" y="2653898"/>
            <a:ext cx="9862402" cy="744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Classification Performance: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Random Forest achieved an accuracy of 99.7% on the test set.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Linear SVM also performed excellently with 99.3% accuracy.</a:t>
            </a:r>
          </a:p>
          <a:p>
            <a:pPr algn="just">
              <a:lnSpc>
                <a:spcPts val="4200"/>
              </a:lnSpc>
            </a:pP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Feature Importance Analysis (from Random Forest):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most important features for distinguishing segments were Month, Day of Week, and Discount Impact.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confirms the value of our temporal and engineered features.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0170" y="160841"/>
            <a:ext cx="2692908" cy="568172"/>
            <a:chOff x="0" y="0"/>
            <a:chExt cx="3590544" cy="7575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90544" cy="757555"/>
            </a:xfrm>
            <a:custGeom>
              <a:avLst/>
              <a:gdLst/>
              <a:ahLst/>
              <a:cxnLst/>
              <a:rect r="r" b="b" t="t" l="l"/>
              <a:pathLst>
                <a:path h="757555" w="3590544">
                  <a:moveTo>
                    <a:pt x="0" y="0"/>
                  </a:moveTo>
                  <a:lnTo>
                    <a:pt x="3590544" y="0"/>
                  </a:lnTo>
                  <a:lnTo>
                    <a:pt x="3590544" y="757555"/>
                  </a:lnTo>
                  <a:lnTo>
                    <a:pt x="0" y="757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9" r="0" b="-24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9950884"/>
            <a:ext cx="18287998" cy="336113"/>
            <a:chOff x="0" y="0"/>
            <a:chExt cx="24383998" cy="448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48183"/>
            </a:xfrm>
            <a:custGeom>
              <a:avLst/>
              <a:gdLst/>
              <a:ahLst/>
              <a:cxnLst/>
              <a:rect r="r" b="b" t="t" l="l"/>
              <a:pathLst>
                <a:path h="44818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48183"/>
                  </a:lnTo>
                  <a:lnTo>
                    <a:pt x="0" y="448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73" r="0" b="-46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813148"/>
            <a:ext cx="2733675" cy="180975"/>
            <a:chOff x="0" y="0"/>
            <a:chExt cx="3644900" cy="241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44138" cy="240919"/>
            </a:xfrm>
            <a:custGeom>
              <a:avLst/>
              <a:gdLst/>
              <a:ahLst/>
              <a:cxnLst/>
              <a:rect r="r" b="b" t="t" l="l"/>
              <a:pathLst>
                <a:path h="240919" w="3644138">
                  <a:moveTo>
                    <a:pt x="3644138" y="0"/>
                  </a:moveTo>
                  <a:lnTo>
                    <a:pt x="0" y="0"/>
                  </a:lnTo>
                  <a:lnTo>
                    <a:pt x="0" y="240919"/>
                  </a:lnTo>
                  <a:lnTo>
                    <a:pt x="3644138" y="240919"/>
                  </a:lnTo>
                  <a:lnTo>
                    <a:pt x="3644138" y="0"/>
                  </a:lnTo>
                  <a:close/>
                </a:path>
              </a:pathLst>
            </a:custGeom>
            <a:solidFill>
              <a:srgbClr val="4471C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9525" y="803624"/>
            <a:ext cx="2752725" cy="200025"/>
            <a:chOff x="0" y="0"/>
            <a:chExt cx="3670300" cy="266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69538" cy="266319"/>
            </a:xfrm>
            <a:custGeom>
              <a:avLst/>
              <a:gdLst/>
              <a:ahLst/>
              <a:cxnLst/>
              <a:rect r="r" b="b" t="t" l="l"/>
              <a:pathLst>
                <a:path h="266319" w="3669538">
                  <a:moveTo>
                    <a:pt x="12700" y="240919"/>
                  </a:moveTo>
                  <a:lnTo>
                    <a:pt x="3656838" y="240919"/>
                  </a:lnTo>
                  <a:lnTo>
                    <a:pt x="3656838" y="253619"/>
                  </a:lnTo>
                  <a:lnTo>
                    <a:pt x="3644138" y="253619"/>
                  </a:lnTo>
                  <a:lnTo>
                    <a:pt x="3644138" y="12700"/>
                  </a:lnTo>
                  <a:lnTo>
                    <a:pt x="3656838" y="12700"/>
                  </a:lnTo>
                  <a:lnTo>
                    <a:pt x="3656838" y="25400"/>
                  </a:lnTo>
                  <a:lnTo>
                    <a:pt x="12700" y="25400"/>
                  </a:lnTo>
                  <a:lnTo>
                    <a:pt x="12700" y="12700"/>
                  </a:lnTo>
                  <a:lnTo>
                    <a:pt x="25400" y="12700"/>
                  </a:lnTo>
                  <a:lnTo>
                    <a:pt x="25400" y="253619"/>
                  </a:lnTo>
                  <a:lnTo>
                    <a:pt x="12700" y="253619"/>
                  </a:lnTo>
                  <a:lnTo>
                    <a:pt x="12700" y="240919"/>
                  </a:lnTo>
                  <a:moveTo>
                    <a:pt x="12700" y="266319"/>
                  </a:moveTo>
                  <a:cubicBezTo>
                    <a:pt x="5715" y="266319"/>
                    <a:pt x="0" y="260604"/>
                    <a:pt x="0" y="25361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lnTo>
                    <a:pt x="3656838" y="0"/>
                  </a:lnTo>
                  <a:cubicBezTo>
                    <a:pt x="3663823" y="0"/>
                    <a:pt x="3669538" y="5715"/>
                    <a:pt x="3669538" y="12700"/>
                  </a:cubicBezTo>
                  <a:lnTo>
                    <a:pt x="3669538" y="253619"/>
                  </a:lnTo>
                  <a:cubicBezTo>
                    <a:pt x="3669538" y="260604"/>
                    <a:pt x="3663823" y="266319"/>
                    <a:pt x="3656838" y="266319"/>
                  </a:cubicBezTo>
                  <a:lnTo>
                    <a:pt x="12700" y="266319"/>
                  </a:lnTo>
                  <a:close/>
                </a:path>
              </a:pathLst>
            </a:custGeom>
            <a:solidFill>
              <a:srgbClr val="172C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0" y="989838"/>
            <a:ext cx="2810637" cy="174879"/>
            <a:chOff x="0" y="0"/>
            <a:chExt cx="3747516" cy="2331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47516" cy="233172"/>
            </a:xfrm>
            <a:custGeom>
              <a:avLst/>
              <a:gdLst/>
              <a:ahLst/>
              <a:cxnLst/>
              <a:rect r="r" b="b" t="t" l="l"/>
              <a:pathLst>
                <a:path h="233172" w="3747516">
                  <a:moveTo>
                    <a:pt x="0" y="0"/>
                  </a:moveTo>
                  <a:lnTo>
                    <a:pt x="3747516" y="0"/>
                  </a:lnTo>
                  <a:lnTo>
                    <a:pt x="3747516" y="233172"/>
                  </a:lnTo>
                  <a:lnTo>
                    <a:pt x="0" y="233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20" t="0" r="-102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416228" y="1059942"/>
            <a:ext cx="5455543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Literature Review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5318" y="2451063"/>
            <a:ext cx="15985453" cy="691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Piernik &amp; Morzy (2021): Demonstrated that using clustering t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 create new features (like cluster distances) can significantly improve the performance of classifiers.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Lee et al. (2021): Achieved 98.49% accuracy for customer segmentation using RFM analysis and a fuzzy decision tree on Apache Spark, highlighting the potential for high accuracy in this domain.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van Ruitenbeek et al. (2023): Showed that clustering can effectively handle intermittent and variable sales series, improving forecasting accuracy.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Synthesis: These studies validate the effectiveness of integrating clustering and classification, guiding our feature engineering and model selection.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0170" y="160841"/>
            <a:ext cx="2692908" cy="568172"/>
            <a:chOff x="0" y="0"/>
            <a:chExt cx="3590544" cy="7575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90544" cy="757555"/>
            </a:xfrm>
            <a:custGeom>
              <a:avLst/>
              <a:gdLst/>
              <a:ahLst/>
              <a:cxnLst/>
              <a:rect r="r" b="b" t="t" l="l"/>
              <a:pathLst>
                <a:path h="757555" w="3590544">
                  <a:moveTo>
                    <a:pt x="0" y="0"/>
                  </a:moveTo>
                  <a:lnTo>
                    <a:pt x="3590544" y="0"/>
                  </a:lnTo>
                  <a:lnTo>
                    <a:pt x="3590544" y="757555"/>
                  </a:lnTo>
                  <a:lnTo>
                    <a:pt x="0" y="757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9" r="0" b="-24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9950884"/>
            <a:ext cx="18287998" cy="336113"/>
            <a:chOff x="0" y="0"/>
            <a:chExt cx="24383998" cy="448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48183"/>
            </a:xfrm>
            <a:custGeom>
              <a:avLst/>
              <a:gdLst/>
              <a:ahLst/>
              <a:cxnLst/>
              <a:rect r="r" b="b" t="t" l="l"/>
              <a:pathLst>
                <a:path h="44818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48183"/>
                  </a:lnTo>
                  <a:lnTo>
                    <a:pt x="0" y="448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73" r="0" b="-46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813148"/>
            <a:ext cx="2733675" cy="180975"/>
            <a:chOff x="0" y="0"/>
            <a:chExt cx="3644900" cy="241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44138" cy="240919"/>
            </a:xfrm>
            <a:custGeom>
              <a:avLst/>
              <a:gdLst/>
              <a:ahLst/>
              <a:cxnLst/>
              <a:rect r="r" b="b" t="t" l="l"/>
              <a:pathLst>
                <a:path h="240919" w="3644138">
                  <a:moveTo>
                    <a:pt x="3644138" y="0"/>
                  </a:moveTo>
                  <a:lnTo>
                    <a:pt x="0" y="0"/>
                  </a:lnTo>
                  <a:lnTo>
                    <a:pt x="0" y="240919"/>
                  </a:lnTo>
                  <a:lnTo>
                    <a:pt x="3644138" y="240919"/>
                  </a:lnTo>
                  <a:lnTo>
                    <a:pt x="3644138" y="0"/>
                  </a:lnTo>
                  <a:close/>
                </a:path>
              </a:pathLst>
            </a:custGeom>
            <a:solidFill>
              <a:srgbClr val="4471C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9525" y="803624"/>
            <a:ext cx="2752725" cy="200025"/>
            <a:chOff x="0" y="0"/>
            <a:chExt cx="3670300" cy="266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69538" cy="266319"/>
            </a:xfrm>
            <a:custGeom>
              <a:avLst/>
              <a:gdLst/>
              <a:ahLst/>
              <a:cxnLst/>
              <a:rect r="r" b="b" t="t" l="l"/>
              <a:pathLst>
                <a:path h="266319" w="3669538">
                  <a:moveTo>
                    <a:pt x="12700" y="240919"/>
                  </a:moveTo>
                  <a:lnTo>
                    <a:pt x="3656838" y="240919"/>
                  </a:lnTo>
                  <a:lnTo>
                    <a:pt x="3656838" y="253619"/>
                  </a:lnTo>
                  <a:lnTo>
                    <a:pt x="3644138" y="253619"/>
                  </a:lnTo>
                  <a:lnTo>
                    <a:pt x="3644138" y="12700"/>
                  </a:lnTo>
                  <a:lnTo>
                    <a:pt x="3656838" y="12700"/>
                  </a:lnTo>
                  <a:lnTo>
                    <a:pt x="3656838" y="25400"/>
                  </a:lnTo>
                  <a:lnTo>
                    <a:pt x="12700" y="25400"/>
                  </a:lnTo>
                  <a:lnTo>
                    <a:pt x="12700" y="12700"/>
                  </a:lnTo>
                  <a:lnTo>
                    <a:pt x="25400" y="12700"/>
                  </a:lnTo>
                  <a:lnTo>
                    <a:pt x="25400" y="253619"/>
                  </a:lnTo>
                  <a:lnTo>
                    <a:pt x="12700" y="253619"/>
                  </a:lnTo>
                  <a:lnTo>
                    <a:pt x="12700" y="240919"/>
                  </a:lnTo>
                  <a:moveTo>
                    <a:pt x="12700" y="266319"/>
                  </a:moveTo>
                  <a:cubicBezTo>
                    <a:pt x="5715" y="266319"/>
                    <a:pt x="0" y="260604"/>
                    <a:pt x="0" y="25361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lnTo>
                    <a:pt x="3656838" y="0"/>
                  </a:lnTo>
                  <a:cubicBezTo>
                    <a:pt x="3663823" y="0"/>
                    <a:pt x="3669538" y="5715"/>
                    <a:pt x="3669538" y="12700"/>
                  </a:cubicBezTo>
                  <a:lnTo>
                    <a:pt x="3669538" y="253619"/>
                  </a:lnTo>
                  <a:cubicBezTo>
                    <a:pt x="3669538" y="260604"/>
                    <a:pt x="3663823" y="266319"/>
                    <a:pt x="3656838" y="266319"/>
                  </a:cubicBezTo>
                  <a:lnTo>
                    <a:pt x="12700" y="266319"/>
                  </a:lnTo>
                  <a:close/>
                </a:path>
              </a:pathLst>
            </a:custGeom>
            <a:solidFill>
              <a:srgbClr val="172C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0" y="989838"/>
            <a:ext cx="2810637" cy="174879"/>
            <a:chOff x="0" y="0"/>
            <a:chExt cx="3747516" cy="2331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47516" cy="233172"/>
            </a:xfrm>
            <a:custGeom>
              <a:avLst/>
              <a:gdLst/>
              <a:ahLst/>
              <a:cxnLst/>
              <a:rect r="r" b="b" t="t" l="l"/>
              <a:pathLst>
                <a:path h="233172" w="3747516">
                  <a:moveTo>
                    <a:pt x="0" y="0"/>
                  </a:moveTo>
                  <a:lnTo>
                    <a:pt x="3747516" y="0"/>
                  </a:lnTo>
                  <a:lnTo>
                    <a:pt x="3747516" y="233172"/>
                  </a:lnTo>
                  <a:lnTo>
                    <a:pt x="0" y="233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20" t="0" r="-102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4771230" y="1059942"/>
            <a:ext cx="874553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 and Future Work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6838" y="2304542"/>
            <a:ext cx="15892462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onclusion: This project successfully demonstrated an end-to-end machine learning pipeline for customer segmentation and prediction. Our hybrid approach yielded interpretable segments and a highly accurate predictive model, fulfilling the course objectives.</a:t>
            </a:r>
          </a:p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Future Work:</a:t>
            </a:r>
          </a:p>
          <a:p>
            <a:pPr algn="just" marL="1295400" indent="-431800" lvl="2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Incorporate real-time data streaming (e.g., using Apache Kafka).</a:t>
            </a:r>
          </a:p>
          <a:p>
            <a:pPr algn="just" marL="1295400" indent="-431800" lvl="2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Apply deep learning techniques like autoencoders for feature reduction.</a:t>
            </a:r>
          </a:p>
          <a:p>
            <a:pPr algn="just" marL="1295400" indent="-431800" lvl="2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 temporal dynamics to capture how customer segments evolve over time.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0170" y="160841"/>
            <a:ext cx="2692908" cy="568172"/>
            <a:chOff x="0" y="0"/>
            <a:chExt cx="3590544" cy="7575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90544" cy="757555"/>
            </a:xfrm>
            <a:custGeom>
              <a:avLst/>
              <a:gdLst/>
              <a:ahLst/>
              <a:cxnLst/>
              <a:rect r="r" b="b" t="t" l="l"/>
              <a:pathLst>
                <a:path h="757555" w="3590544">
                  <a:moveTo>
                    <a:pt x="0" y="0"/>
                  </a:moveTo>
                  <a:lnTo>
                    <a:pt x="3590544" y="0"/>
                  </a:lnTo>
                  <a:lnTo>
                    <a:pt x="3590544" y="757555"/>
                  </a:lnTo>
                  <a:lnTo>
                    <a:pt x="0" y="757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9" r="0" b="-24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9950884"/>
            <a:ext cx="18287998" cy="336113"/>
            <a:chOff x="0" y="0"/>
            <a:chExt cx="24383998" cy="448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48183"/>
            </a:xfrm>
            <a:custGeom>
              <a:avLst/>
              <a:gdLst/>
              <a:ahLst/>
              <a:cxnLst/>
              <a:rect r="r" b="b" t="t" l="l"/>
              <a:pathLst>
                <a:path h="44818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48183"/>
                  </a:lnTo>
                  <a:lnTo>
                    <a:pt x="0" y="448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73" r="0" b="-46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813148"/>
            <a:ext cx="2733675" cy="180975"/>
            <a:chOff x="0" y="0"/>
            <a:chExt cx="3644900" cy="241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44138" cy="240919"/>
            </a:xfrm>
            <a:custGeom>
              <a:avLst/>
              <a:gdLst/>
              <a:ahLst/>
              <a:cxnLst/>
              <a:rect r="r" b="b" t="t" l="l"/>
              <a:pathLst>
                <a:path h="240919" w="3644138">
                  <a:moveTo>
                    <a:pt x="3644138" y="0"/>
                  </a:moveTo>
                  <a:lnTo>
                    <a:pt x="0" y="0"/>
                  </a:lnTo>
                  <a:lnTo>
                    <a:pt x="0" y="240919"/>
                  </a:lnTo>
                  <a:lnTo>
                    <a:pt x="3644138" y="240919"/>
                  </a:lnTo>
                  <a:lnTo>
                    <a:pt x="3644138" y="0"/>
                  </a:lnTo>
                  <a:close/>
                </a:path>
              </a:pathLst>
            </a:custGeom>
            <a:solidFill>
              <a:srgbClr val="4471C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9525" y="803624"/>
            <a:ext cx="2752725" cy="200025"/>
            <a:chOff x="0" y="0"/>
            <a:chExt cx="3670300" cy="266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69538" cy="266319"/>
            </a:xfrm>
            <a:custGeom>
              <a:avLst/>
              <a:gdLst/>
              <a:ahLst/>
              <a:cxnLst/>
              <a:rect r="r" b="b" t="t" l="l"/>
              <a:pathLst>
                <a:path h="266319" w="3669538">
                  <a:moveTo>
                    <a:pt x="12700" y="240919"/>
                  </a:moveTo>
                  <a:lnTo>
                    <a:pt x="3656838" y="240919"/>
                  </a:lnTo>
                  <a:lnTo>
                    <a:pt x="3656838" y="253619"/>
                  </a:lnTo>
                  <a:lnTo>
                    <a:pt x="3644138" y="253619"/>
                  </a:lnTo>
                  <a:lnTo>
                    <a:pt x="3644138" y="12700"/>
                  </a:lnTo>
                  <a:lnTo>
                    <a:pt x="3656838" y="12700"/>
                  </a:lnTo>
                  <a:lnTo>
                    <a:pt x="3656838" y="25400"/>
                  </a:lnTo>
                  <a:lnTo>
                    <a:pt x="12700" y="25400"/>
                  </a:lnTo>
                  <a:lnTo>
                    <a:pt x="12700" y="12700"/>
                  </a:lnTo>
                  <a:lnTo>
                    <a:pt x="25400" y="12700"/>
                  </a:lnTo>
                  <a:lnTo>
                    <a:pt x="25400" y="253619"/>
                  </a:lnTo>
                  <a:lnTo>
                    <a:pt x="12700" y="253619"/>
                  </a:lnTo>
                  <a:lnTo>
                    <a:pt x="12700" y="240919"/>
                  </a:lnTo>
                  <a:moveTo>
                    <a:pt x="12700" y="266319"/>
                  </a:moveTo>
                  <a:cubicBezTo>
                    <a:pt x="5715" y="266319"/>
                    <a:pt x="0" y="260604"/>
                    <a:pt x="0" y="25361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lnTo>
                    <a:pt x="3656838" y="0"/>
                  </a:lnTo>
                  <a:cubicBezTo>
                    <a:pt x="3663823" y="0"/>
                    <a:pt x="3669538" y="5715"/>
                    <a:pt x="3669538" y="12700"/>
                  </a:cubicBezTo>
                  <a:lnTo>
                    <a:pt x="3669538" y="253619"/>
                  </a:lnTo>
                  <a:cubicBezTo>
                    <a:pt x="3669538" y="260604"/>
                    <a:pt x="3663823" y="266319"/>
                    <a:pt x="3656838" y="266319"/>
                  </a:cubicBezTo>
                  <a:lnTo>
                    <a:pt x="12700" y="266319"/>
                  </a:lnTo>
                  <a:close/>
                </a:path>
              </a:pathLst>
            </a:custGeom>
            <a:solidFill>
              <a:srgbClr val="172C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0" y="989838"/>
            <a:ext cx="2810637" cy="174879"/>
            <a:chOff x="0" y="0"/>
            <a:chExt cx="3747516" cy="2331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47516" cy="233172"/>
            </a:xfrm>
            <a:custGeom>
              <a:avLst/>
              <a:gdLst/>
              <a:ahLst/>
              <a:cxnLst/>
              <a:rect r="r" b="b" t="t" l="l"/>
              <a:pathLst>
                <a:path h="233172" w="3747516">
                  <a:moveTo>
                    <a:pt x="0" y="0"/>
                  </a:moveTo>
                  <a:lnTo>
                    <a:pt x="3747516" y="0"/>
                  </a:lnTo>
                  <a:lnTo>
                    <a:pt x="3747516" y="233172"/>
                  </a:lnTo>
                  <a:lnTo>
                    <a:pt x="0" y="233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20" t="0" r="-102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063160" y="3355203"/>
            <a:ext cx="216167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4471C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Q/A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66465" y="8762999"/>
            <a:ext cx="3792835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Thanks and Regards,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DAG5M0B8P0k</dc:identifier>
  <dcterms:modified xsi:type="dcterms:W3CDTF">2011-08-01T06:04:30Z</dcterms:modified>
  <cp:revision>1</cp:revision>
  <dc:title>Clustering Analysis of Synthetic Beverage Sales Data.pptx</dc:title>
</cp:coreProperties>
</file>